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Raleway" pitchFamily="2" charset="0"/>
      <p:regular r:id="rId13"/>
    </p:embeddedFont>
    <p:embeddedFont>
      <p:font typeface="Raleway Light" pitchFamily="2" charset="0"/>
      <p:regular r:id="rId14"/>
    </p:embeddedFont>
    <p:embeddedFont>
      <p:font typeface="Roboto" panose="02000000000000000000" pitchFamily="2" charset="0"/>
      <p:regular r:id="rId15"/>
    </p:embeddedFont>
    <p:embeddedFont>
      <p:font typeface="Roboto Bold" panose="02000000000000000000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6248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7" Type="http://schemas.openxmlformats.org/officeDocument/2006/relationships/image" Target="../media/image23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0466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Wearable IoT-Based Health Monitoring System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133277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Continuous Heart Rate, Body Temperature, and Health Status Tracking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2415" y="1639788"/>
            <a:ext cx="5470785" cy="4667746"/>
          </a:xfrm>
          <a:prstGeom prst="roundRect">
            <a:avLst>
              <a:gd name="adj" fmla="val 2551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07710" y="1805087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Project Overview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07710" y="2228850"/>
            <a:ext cx="5140196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wearable IoT-based healthcare monitoring solution designed for continuous, real-time physiological tracking and centralized health status management.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03904" y="1825823"/>
            <a:ext cx="5232666" cy="13216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64446" y="2010172"/>
            <a:ext cx="478778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Continuous Tracking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564446" y="2433935"/>
            <a:ext cx="4787780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Heart rate, body temperature, and other health parameters monitored without interruption.</a:t>
            </a:r>
            <a:endParaRPr lang="en-US" sz="13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03904" y="3312815"/>
            <a:ext cx="5232666" cy="132169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564446" y="3497163"/>
            <a:ext cx="478778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Real-Time Platform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564446" y="3920927"/>
            <a:ext cx="4787780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Health information delivered through a centralized monitoring platform accessible to caregivers.</a:t>
            </a:r>
            <a:endParaRPr lang="en-US" sz="13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03904" y="4799806"/>
            <a:ext cx="5232666" cy="132169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564446" y="4984155"/>
            <a:ext cx="478778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Remote Intervention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564446" y="5407918"/>
            <a:ext cx="4787780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Supports continuous remote health monitoring and timely healthcare intervention.</a:t>
            </a:r>
            <a:endParaRPr lang="en-US" sz="13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73E9862-D9A4-8F5C-19D2-4B538239500E}"/>
              </a:ext>
            </a:extLst>
          </p:cNvPr>
          <p:cNvSpPr txBox="1"/>
          <p:nvPr/>
        </p:nvSpPr>
        <p:spPr>
          <a:xfrm>
            <a:off x="9041009" y="6211669"/>
            <a:ext cx="31509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BOTTA BHARGAV VARA PRASAD</a:t>
            </a:r>
            <a:br>
              <a:rPr lang="en-IN" dirty="0"/>
            </a:br>
            <a:r>
              <a:rPr lang="en-IN" dirty="0"/>
              <a:t>323129520041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6360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Problem Statement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711027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Continuous health monitoring is critical for early detection of medical conditions and timely healthcare intervention — yet current practice falls short.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2347714"/>
            <a:ext cx="2533686" cy="2354759"/>
          </a:xfrm>
          <a:prstGeom prst="roundRect">
            <a:avLst>
              <a:gd name="adj" fmla="val 295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3119" y="2519363"/>
            <a:ext cx="219039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Periodic Checkups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33119" y="2943126"/>
            <a:ext cx="2190398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Traditional health monitoring relies on scheduled medical visits and manual measurements, creating significant gaps in observation.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60455" y="2347714"/>
            <a:ext cx="2533686" cy="2354759"/>
          </a:xfrm>
          <a:prstGeom prst="roundRect">
            <a:avLst>
              <a:gd name="adj" fmla="val 295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32099" y="2519363"/>
            <a:ext cx="2190398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Missed Sudden Changes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532099" y="3201591"/>
            <a:ext cx="2190398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Intermittent monitoring makes it difficult to identify rapid or unexpected shifts in a patient's health status before they escalate.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3904" y="2347714"/>
            <a:ext cx="2533686" cy="2613223"/>
          </a:xfrm>
          <a:prstGeom prst="roundRect">
            <a:avLst>
              <a:gd name="adj" fmla="val 274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75548" y="2519363"/>
            <a:ext cx="2190398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Vulnerable Populations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75548" y="3201591"/>
            <a:ext cx="2190398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Patients, elderly individuals, and their healthcare providers require intelligent wearable systems capable of continuous, uninterrupted monitoring.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002884" y="2347714"/>
            <a:ext cx="2533686" cy="2613223"/>
          </a:xfrm>
          <a:prstGeom prst="roundRect">
            <a:avLst>
              <a:gd name="adj" fmla="val 274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74528" y="2519363"/>
            <a:ext cx="219039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Information Gap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74528" y="2943126"/>
            <a:ext cx="2190398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Without real-time health data, caregivers and clinicians lack the situational awareness needed to act promptly on deteriorating conditions.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61475" y="5333008"/>
            <a:ext cx="10868745" cy="661293"/>
          </a:xfrm>
          <a:prstGeom prst="roundRect">
            <a:avLst>
              <a:gd name="adj" fmla="val 10504"/>
            </a:avLst>
          </a:prstGeom>
          <a:solidFill>
            <a:srgbClr val="FCF2B5"/>
          </a:solidFill>
          <a:ln/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69" y="5572720"/>
            <a:ext cx="206667" cy="16529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198731" y="5539581"/>
            <a:ext cx="1077578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Periodic monitoring cannot substitute for continuous vital-sign surveillance in high-risk or elderly patient populations.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68648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Proposed Solution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616075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Wearable IoT-Based Health Monitoring System addresses the limitations of periodic checkups through an integrated, always-on physiological data pipeline.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331343"/>
            <a:ext cx="5434373" cy="66149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6769" y="3158133"/>
            <a:ext cx="510378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Wearable Sensors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26769" y="3515816"/>
            <a:ext cx="5103784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Continuously collect heart rate, body temperature, and additional physiological parameters from the patient.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48" y="2331343"/>
            <a:ext cx="5434373" cy="66149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61142" y="3158133"/>
            <a:ext cx="510378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IoT Transmission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261142" y="3515816"/>
            <a:ext cx="5103784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IoT communication modules securely transmit collected health data to a centralized monitoring platform in real time.</a:t>
            </a:r>
            <a:endParaRPr lang="en-US" sz="13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4210348"/>
            <a:ext cx="5434373" cy="66149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26769" y="5037138"/>
            <a:ext cx="510378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Centralized Platform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826769" y="5394821"/>
            <a:ext cx="5103784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secure, user-friendly interface displays live health information and triggers automated alerts on abnormal conditions.</a:t>
            </a:r>
            <a:endParaRPr lang="en-US" sz="13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5848" y="4210348"/>
            <a:ext cx="5434373" cy="66149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261142" y="5037138"/>
            <a:ext cx="510378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Remote Care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6261142" y="5394821"/>
            <a:ext cx="5103784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Caregivers and healthcare professionals monitor patients remotely, enabling timely intervention without physical presence.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56307"/>
            <a:ext cx="10868745" cy="4441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Project Objectives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661475" y="1144687"/>
            <a:ext cx="11478330" cy="211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system is designed around ten clearly defined objectives spanning data acquisition, transmission, analysis, alerting, and patient outcomes.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61475" y="1630759"/>
            <a:ext cx="319774" cy="319782"/>
          </a:xfrm>
          <a:prstGeom prst="roundRect">
            <a:avLst>
              <a:gd name="adj" fmla="val 18668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4754" y="1657350"/>
            <a:ext cx="213117" cy="266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103384" y="1679575"/>
            <a:ext cx="4819133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Monitor Heart Rate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103384" y="2023765"/>
            <a:ext cx="4819133" cy="211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Continuously measure and record the user's heart rate without interruption.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61475" y="2479477"/>
            <a:ext cx="319774" cy="319782"/>
          </a:xfrm>
          <a:prstGeom prst="roundRect">
            <a:avLst>
              <a:gd name="adj" fmla="val 18668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4754" y="2506067"/>
            <a:ext cx="213117" cy="266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103384" y="2528292"/>
            <a:ext cx="4819133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Monitor Body Temperature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103384" y="2872482"/>
            <a:ext cx="4819133" cy="42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Continuously measure and record body temperature as a key physiological indicator.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61475" y="3539629"/>
            <a:ext cx="319774" cy="319782"/>
          </a:xfrm>
          <a:prstGeom prst="roundRect">
            <a:avLst>
              <a:gd name="adj" fmla="val 18668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4754" y="3566220"/>
            <a:ext cx="213117" cy="266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103384" y="3588445"/>
            <a:ext cx="4819133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Track Additional Parameters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103384" y="3932634"/>
            <a:ext cx="4819133" cy="42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Collect other relevant health parameters through wearable sensor integration.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61475" y="4599781"/>
            <a:ext cx="319774" cy="319782"/>
          </a:xfrm>
          <a:prstGeom prst="roundRect">
            <a:avLst>
              <a:gd name="adj" fmla="val 18668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4754" y="4626372"/>
            <a:ext cx="213117" cy="266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103384" y="4648597"/>
            <a:ext cx="4819133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Collect Physiological Data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103384" y="4992787"/>
            <a:ext cx="4819133" cy="211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Acquire accurate, continuous data using wearable sensor hardware.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61475" y="5448498"/>
            <a:ext cx="319774" cy="319782"/>
          </a:xfrm>
          <a:prstGeom prst="roundRect">
            <a:avLst>
              <a:gd name="adj" fmla="val 18668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4754" y="5475089"/>
            <a:ext cx="213117" cy="266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103384" y="5497314"/>
            <a:ext cx="4819133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Transmit in Real Time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103384" y="5841504"/>
            <a:ext cx="4819133" cy="211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Deliver health information to the monitoring platform with minimal latency.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75528" y="1630759"/>
            <a:ext cx="319774" cy="319782"/>
          </a:xfrm>
          <a:prstGeom prst="roundRect">
            <a:avLst>
              <a:gd name="adj" fmla="val 18668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28807" y="1657350"/>
            <a:ext cx="213117" cy="266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6717437" y="1679575"/>
            <a:ext cx="4819133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Detect Abnormal Conditions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717437" y="2023765"/>
            <a:ext cx="4819133" cy="42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Analyze incoming data to identify readings that fall outside normal health thresholds.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75528" y="2690912"/>
            <a:ext cx="319774" cy="319782"/>
          </a:xfrm>
          <a:prstGeom prst="roundRect">
            <a:avLst>
              <a:gd name="adj" fmla="val 18668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28807" y="2717502"/>
            <a:ext cx="213117" cy="266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6717437" y="2739727"/>
            <a:ext cx="4819133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Generate Automated Alerts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717437" y="3083917"/>
            <a:ext cx="4819133" cy="42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Notify caregivers or healthcare professionals immediately upon detection of anomalies.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75528" y="3751064"/>
            <a:ext cx="319774" cy="319782"/>
          </a:xfrm>
          <a:prstGeom prst="roundRect">
            <a:avLst>
              <a:gd name="adj" fmla="val 18668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28807" y="3777655"/>
            <a:ext cx="213117" cy="266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6717437" y="3799880"/>
            <a:ext cx="4819133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Enable Remote Monitoring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6717437" y="4144070"/>
            <a:ext cx="4819133" cy="211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Support continuous observation of patient health status from any location.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275528" y="4599781"/>
            <a:ext cx="319774" cy="319782"/>
          </a:xfrm>
          <a:prstGeom prst="roundRect">
            <a:avLst>
              <a:gd name="adj" fmla="val 18668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28807" y="4626372"/>
            <a:ext cx="213117" cy="266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6717437" y="4648597"/>
            <a:ext cx="4819133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Support Timely Intervention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6717437" y="4992787"/>
            <a:ext cx="4819133" cy="211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Provide the information infrastructure needed for prompt medical response.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275528" y="5448498"/>
            <a:ext cx="319774" cy="319782"/>
          </a:xfrm>
          <a:prstGeom prst="roundRect">
            <a:avLst>
              <a:gd name="adj" fmla="val 18668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28807" y="5475089"/>
            <a:ext cx="213117" cy="266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</a:t>
            </a:r>
            <a:endParaRPr lang="en-US" sz="1650" dirty="0"/>
          </a:p>
        </p:txBody>
      </p:sp>
      <p:sp>
        <p:nvSpPr>
          <p:cNvPr id="42" name="Text 40"/>
          <p:cNvSpPr/>
          <p:nvPr/>
        </p:nvSpPr>
        <p:spPr>
          <a:xfrm>
            <a:off x="6717437" y="5497314"/>
            <a:ext cx="4819133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Improve Patient Safety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6717437" y="5841504"/>
            <a:ext cx="4819133" cy="42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Enhance overall health-status tracking and reduce risk through continuous awareness.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01154"/>
            <a:ext cx="10868745" cy="4441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Wearable Sensors and System Components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661475" y="1189534"/>
            <a:ext cx="11478330" cy="211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Seven integrated components form the complete hardware and software architecture of the monitoring system.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538288"/>
            <a:ext cx="355293" cy="35530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2046188"/>
            <a:ext cx="5358075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Heart Rate Sensors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61475" y="2341463"/>
            <a:ext cx="5358075" cy="211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Monitor the user's heart rate continuously, providing a primary vital-sign data stream.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72145" y="1538288"/>
            <a:ext cx="355293" cy="35530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72145" y="2046188"/>
            <a:ext cx="5358075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Temperature Sensors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6172145" y="2341463"/>
            <a:ext cx="5358075" cy="42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Measure body temperature as a continuous physiological indicator integrated into the wearable device.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008610"/>
            <a:ext cx="355293" cy="35530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61475" y="3516511"/>
            <a:ext cx="5358075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IoT Communication Modules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661475" y="3811786"/>
            <a:ext cx="5358075" cy="42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Transmit collected health information from the wearable device to the centralized monitoring platform.</a:t>
            </a:r>
            <a:endParaRPr lang="en-US" sz="11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72145" y="3008610"/>
            <a:ext cx="355293" cy="35530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172145" y="3516511"/>
            <a:ext cx="5358075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Cloud Connectivity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6172145" y="3811786"/>
            <a:ext cx="5358075" cy="42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Supports real-time transmission and centralized access to health data from any authorized location.</a:t>
            </a:r>
            <a:endParaRPr lang="en-US" sz="11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4478933"/>
            <a:ext cx="355293" cy="35530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61475" y="4986834"/>
            <a:ext cx="5358075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Centralized Monitoring Platform</a:t>
            </a:r>
            <a:endParaRPr lang="en-US" sz="1350" dirty="0"/>
          </a:p>
        </p:txBody>
      </p:sp>
      <p:sp>
        <p:nvSpPr>
          <p:cNvPr id="18" name="Text 11"/>
          <p:cNvSpPr/>
          <p:nvPr/>
        </p:nvSpPr>
        <p:spPr>
          <a:xfrm>
            <a:off x="661475" y="5282109"/>
            <a:ext cx="5358075" cy="42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Receives, stores, and monitors all incoming physiological information from connected wearable devices.</a:t>
            </a:r>
            <a:endParaRPr lang="en-US" sz="11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72145" y="4478933"/>
            <a:ext cx="355293" cy="355302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172145" y="4986834"/>
            <a:ext cx="5358075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Interactive Dashboard</a:t>
            </a:r>
            <a:endParaRPr lang="en-US" sz="1350" dirty="0"/>
          </a:p>
        </p:txBody>
      </p:sp>
      <p:sp>
        <p:nvSpPr>
          <p:cNvPr id="21" name="Text 13"/>
          <p:cNvSpPr/>
          <p:nvPr/>
        </p:nvSpPr>
        <p:spPr>
          <a:xfrm>
            <a:off x="6172145" y="5282109"/>
            <a:ext cx="5358075" cy="42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Displays live health parameters, historical trends, alert history, and current patient status in one interface.</a:t>
            </a:r>
            <a:endParaRPr lang="en-US" sz="1100" dirty="0"/>
          </a:p>
        </p:txBody>
      </p:sp>
      <p:sp>
        <p:nvSpPr>
          <p:cNvPr id="22" name="Shape 14"/>
          <p:cNvSpPr/>
          <p:nvPr/>
        </p:nvSpPr>
        <p:spPr>
          <a:xfrm>
            <a:off x="661475" y="5842298"/>
            <a:ext cx="10868745" cy="514449"/>
          </a:xfrm>
          <a:prstGeom prst="roundRect">
            <a:avLst>
              <a:gd name="adj" fmla="val 11604"/>
            </a:avLst>
          </a:prstGeom>
          <a:solidFill>
            <a:srgbClr val="E1E1EA"/>
          </a:solidFill>
          <a:ln/>
        </p:spPr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3553" y="6021685"/>
            <a:ext cx="177597" cy="142081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1123227" y="5999956"/>
            <a:ext cx="10874500" cy="211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 components operate in concert to deliver uninterrupted, end-to-end health monitoring from sensor to caregiver.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85775"/>
            <a:ext cx="10868745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System Working Process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61475" y="1157288"/>
            <a:ext cx="11478330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system operates through an eleven-step end-to-end pipeline — from sensor attachment to historical data retention — ensuring no gap in physiological surveillance.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1475" y="1495623"/>
            <a:ext cx="279095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61475" y="1713706"/>
            <a:ext cx="3544402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6" name="Text 4"/>
          <p:cNvSpPr/>
          <p:nvPr/>
        </p:nvSpPr>
        <p:spPr>
          <a:xfrm>
            <a:off x="661475" y="1821557"/>
            <a:ext cx="3544402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Sensor Attachment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61475" y="2110184"/>
            <a:ext cx="3544402" cy="411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Wearable sensors are attached to or integrated into the monitoring device on the patient.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323547" y="1495623"/>
            <a:ext cx="279095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23547" y="1713706"/>
            <a:ext cx="3544501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0" name="Text 8"/>
          <p:cNvSpPr/>
          <p:nvPr/>
        </p:nvSpPr>
        <p:spPr>
          <a:xfrm>
            <a:off x="4323547" y="1821557"/>
            <a:ext cx="3544501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Heart Rate Measurement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323547" y="2110184"/>
            <a:ext cx="3544501" cy="411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Heart rate sensors continuously measure and record the user's cardiac activity.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985719" y="1495623"/>
            <a:ext cx="279095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03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985719" y="1713706"/>
            <a:ext cx="3544501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4" name="Text 12"/>
          <p:cNvSpPr/>
          <p:nvPr/>
        </p:nvSpPr>
        <p:spPr>
          <a:xfrm>
            <a:off x="7985719" y="1821557"/>
            <a:ext cx="3544501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Temperature Measurement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985719" y="2110184"/>
            <a:ext cx="3544501" cy="411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Temperature sensors continuously measure body temperature in parallel with heart rate.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61475" y="2744192"/>
            <a:ext cx="279095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04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61475" y="2962275"/>
            <a:ext cx="3544402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8" name="Text 16"/>
          <p:cNvSpPr/>
          <p:nvPr/>
        </p:nvSpPr>
        <p:spPr>
          <a:xfrm>
            <a:off x="661475" y="3070126"/>
            <a:ext cx="3544402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Additional Parameter Collection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61475" y="3358753"/>
            <a:ext cx="3544402" cy="411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Other wearable sensors collect supplementary health parameters as configured.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323547" y="2744192"/>
            <a:ext cx="279095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05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323547" y="2962275"/>
            <a:ext cx="3544501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2" name="Text 20"/>
          <p:cNvSpPr/>
          <p:nvPr/>
        </p:nvSpPr>
        <p:spPr>
          <a:xfrm>
            <a:off x="4323547" y="3070126"/>
            <a:ext cx="3544501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IoT Data Processing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323547" y="3358753"/>
            <a:ext cx="3544501" cy="411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collected physiological data is processed locally by the IoT system before transmission.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985719" y="2744192"/>
            <a:ext cx="279095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06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985719" y="2962275"/>
            <a:ext cx="3544501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6" name="Text 24"/>
          <p:cNvSpPr/>
          <p:nvPr/>
        </p:nvSpPr>
        <p:spPr>
          <a:xfrm>
            <a:off x="7985719" y="3070126"/>
            <a:ext cx="3544501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 Transmission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7985719" y="3358753"/>
            <a:ext cx="3544501" cy="411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IoT communication modules transmit the processed data to the centralized monitoring platform.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61475" y="3992761"/>
            <a:ext cx="279095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07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61475" y="4210844"/>
            <a:ext cx="3544402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30" name="Text 28"/>
          <p:cNvSpPr/>
          <p:nvPr/>
        </p:nvSpPr>
        <p:spPr>
          <a:xfrm>
            <a:off x="661475" y="4318695"/>
            <a:ext cx="3544402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Cloud Relay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61475" y="4607322"/>
            <a:ext cx="3544402" cy="411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Cloud connectivity enables real-time transmission and centralized access to health data.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323547" y="3992761"/>
            <a:ext cx="279095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08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323547" y="4210844"/>
            <a:ext cx="3544501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34" name="Text 32"/>
          <p:cNvSpPr/>
          <p:nvPr/>
        </p:nvSpPr>
        <p:spPr>
          <a:xfrm>
            <a:off x="4323547" y="4318695"/>
            <a:ext cx="3544501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Health Data Analysis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4323547" y="4607322"/>
            <a:ext cx="3544501" cy="411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platform analyzes received health information against established normal thresholds.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985719" y="3992761"/>
            <a:ext cx="279095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09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985719" y="4210844"/>
            <a:ext cx="3544501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38" name="Text 36"/>
          <p:cNvSpPr/>
          <p:nvPr/>
        </p:nvSpPr>
        <p:spPr>
          <a:xfrm>
            <a:off x="7985719" y="4318695"/>
            <a:ext cx="3544501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Anomaly Detection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7985719" y="4607322"/>
            <a:ext cx="3544501" cy="411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When abnormal health conditions are detected, the system automatically generates an alert.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61475" y="5241330"/>
            <a:ext cx="279095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10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61475" y="5459413"/>
            <a:ext cx="5375537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42" name="Text 40"/>
          <p:cNvSpPr/>
          <p:nvPr/>
        </p:nvSpPr>
        <p:spPr>
          <a:xfrm>
            <a:off x="661475" y="5567263"/>
            <a:ext cx="5375537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Alert Dispatch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661475" y="5855891"/>
            <a:ext cx="5375537" cy="411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Alerts are sent to caregivers or healthcare professionals for timely attention and intervention.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154683" y="5241330"/>
            <a:ext cx="279095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11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154683" y="5459413"/>
            <a:ext cx="5375537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46" name="Text 44"/>
          <p:cNvSpPr/>
          <p:nvPr/>
        </p:nvSpPr>
        <p:spPr>
          <a:xfrm>
            <a:off x="6154683" y="5567263"/>
            <a:ext cx="5375537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Historical Retention</a:t>
            </a:r>
            <a:endParaRPr lang="en-US" sz="1350" dirty="0"/>
          </a:p>
        </p:txBody>
      </p:sp>
      <p:sp>
        <p:nvSpPr>
          <p:cNvPr id="47" name="Text 45"/>
          <p:cNvSpPr/>
          <p:nvPr/>
        </p:nvSpPr>
        <p:spPr>
          <a:xfrm>
            <a:off x="6154683" y="5855891"/>
            <a:ext cx="5375537" cy="411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 health information is maintained for historical monitoring, trend analysis, and clinical review.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2769"/>
            <a:ext cx="10868745" cy="452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Real-Time Health Monitoring Dashboard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61475" y="1268214"/>
            <a:ext cx="11478330" cy="217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interactive dashboard serves as the primary interface for caregivers and healthcare professionals, consolidating all health data into a single, actionable view.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57298" y="1627684"/>
            <a:ext cx="5466221" cy="4667448"/>
          </a:xfrm>
          <a:prstGeom prst="roundRect">
            <a:avLst>
              <a:gd name="adj" fmla="val 2232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01955" y="1754287"/>
            <a:ext cx="5176906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Information Displayed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2906" y="2103636"/>
            <a:ext cx="2528328" cy="104199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84711" y="2122686"/>
            <a:ext cx="2326522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Live Heart Rate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84711" y="2475309"/>
            <a:ext cx="2326522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 cardiac readings updated continuously from the wearable sensor.</a:t>
            </a:r>
            <a:endParaRPr lang="en-US" sz="11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50434" y="2103636"/>
            <a:ext cx="2528427" cy="104199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552240" y="2122686"/>
            <a:ext cx="2326621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Live Body Temperature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3552240" y="2475309"/>
            <a:ext cx="2326621" cy="434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Current body temperature displayed alongside normal range thresholds.</a:t>
            </a:r>
            <a:endParaRPr lang="en-US" sz="11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2906" y="3360737"/>
            <a:ext cx="2528328" cy="105092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84711" y="3379787"/>
            <a:ext cx="2326522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Additional Health Parameters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884711" y="3958431"/>
            <a:ext cx="2326522" cy="434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Other monitored physiological values presented in a unified view.</a:t>
            </a:r>
            <a:endParaRPr lang="en-US" sz="11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50434" y="3360737"/>
            <a:ext cx="2528427" cy="105092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552240" y="3379787"/>
            <a:ext cx="2326621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Historical Trends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3552240" y="3732411"/>
            <a:ext cx="2326621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Time-series visualization of past health readings for pattern identification.</a:t>
            </a:r>
            <a:endParaRPr lang="en-US" sz="11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2906" y="4626769"/>
            <a:ext cx="5195956" cy="60781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84711" y="4645819"/>
            <a:ext cx="4994150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Alert History &amp; Patient Status</a:t>
            </a:r>
            <a:endParaRPr lang="en-US" sz="1400" dirty="0"/>
          </a:p>
        </p:txBody>
      </p:sp>
      <p:sp>
        <p:nvSpPr>
          <p:cNvPr id="20" name="Text 13"/>
          <p:cNvSpPr/>
          <p:nvPr/>
        </p:nvSpPr>
        <p:spPr>
          <a:xfrm>
            <a:off x="884711" y="4998442"/>
            <a:ext cx="4994150" cy="217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Log of all generated alerts and the current overall health status of the patient.</a:t>
            </a:r>
            <a:endParaRPr lang="en-US" sz="1100" dirty="0"/>
          </a:p>
        </p:txBody>
      </p:sp>
      <p:sp>
        <p:nvSpPr>
          <p:cNvPr id="21" name="Text 14"/>
          <p:cNvSpPr/>
          <p:nvPr/>
        </p:nvSpPr>
        <p:spPr>
          <a:xfrm>
            <a:off x="6278703" y="1754287"/>
            <a:ext cx="5257867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Dashboard Capabilities</a:t>
            </a:r>
            <a:endParaRPr lang="en-US" sz="1400" dirty="0"/>
          </a:p>
        </p:txBody>
      </p:sp>
      <p:sp>
        <p:nvSpPr>
          <p:cNvPr id="22" name="Shape 15"/>
          <p:cNvSpPr/>
          <p:nvPr/>
        </p:nvSpPr>
        <p:spPr>
          <a:xfrm>
            <a:off x="6278703" y="2122686"/>
            <a:ext cx="2565633" cy="1331317"/>
          </a:xfrm>
          <a:prstGeom prst="roundRect">
            <a:avLst>
              <a:gd name="adj" fmla="val 4565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6442410" y="2286397"/>
            <a:ext cx="2238220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Continuous Monitoring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6442410" y="2639020"/>
            <a:ext cx="2238220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Enables uninterrupted observation of all health parameters without manual intervention.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8970937" y="2122686"/>
            <a:ext cx="2565633" cy="1331317"/>
          </a:xfrm>
          <a:prstGeom prst="roundRect">
            <a:avLst>
              <a:gd name="adj" fmla="val 4565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9134643" y="2286397"/>
            <a:ext cx="2238220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Remote Observation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9134643" y="2639020"/>
            <a:ext cx="2238220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Caregivers can observe patient status from any authorized remote location.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6278703" y="3580606"/>
            <a:ext cx="2565633" cy="1331317"/>
          </a:xfrm>
          <a:prstGeom prst="roundRect">
            <a:avLst>
              <a:gd name="adj" fmla="val 4565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6442410" y="3744317"/>
            <a:ext cx="2238220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Change Identification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6442410" y="4096941"/>
            <a:ext cx="2238220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Facilitates rapid identification of shifts or deterioration in health parameters.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8970937" y="3580606"/>
            <a:ext cx="2565633" cy="1331317"/>
          </a:xfrm>
          <a:prstGeom prst="roundRect">
            <a:avLst>
              <a:gd name="adj" fmla="val 4565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9134643" y="3744317"/>
            <a:ext cx="2238220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Historical Review</a:t>
            </a:r>
            <a:endParaRPr lang="en-US" sz="1400" dirty="0"/>
          </a:p>
        </p:txBody>
      </p:sp>
      <p:sp>
        <p:nvSpPr>
          <p:cNvPr id="33" name="Text 26"/>
          <p:cNvSpPr/>
          <p:nvPr/>
        </p:nvSpPr>
        <p:spPr>
          <a:xfrm>
            <a:off x="9134643" y="4096941"/>
            <a:ext cx="2238220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Supports clinical review of historical health information for informed decision-making.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6278703" y="5038527"/>
            <a:ext cx="5257867" cy="1114227"/>
          </a:xfrm>
          <a:prstGeom prst="roundRect">
            <a:avLst>
              <a:gd name="adj" fmla="val 5455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6442410" y="5202238"/>
            <a:ext cx="4930453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Timely Response</a:t>
            </a:r>
            <a:endParaRPr lang="en-US" sz="1400" dirty="0"/>
          </a:p>
        </p:txBody>
      </p:sp>
      <p:sp>
        <p:nvSpPr>
          <p:cNvPr id="36" name="Text 29"/>
          <p:cNvSpPr/>
          <p:nvPr/>
        </p:nvSpPr>
        <p:spPr>
          <a:xfrm>
            <a:off x="6442410" y="5554861"/>
            <a:ext cx="4930453" cy="434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Provides the real-time awareness needed to respond promptly to abnormal conditions.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60970"/>
            <a:ext cx="10868745" cy="39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Abnormal Condition Detection and Alerts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661475" y="1050528"/>
            <a:ext cx="11478330" cy="178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alert mechanism forms the safety backbone of the system, translating continuous data analysis into actionable notifications for healthcare professionals.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1435298"/>
            <a:ext cx="5279893" cy="197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Alert Mechanism</a:t>
            </a:r>
            <a:endParaRPr lang="en-US" sz="1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742083"/>
            <a:ext cx="5279893" cy="22768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16753" y="3587174"/>
            <a:ext cx="1197832" cy="149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Caregiver Notification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16753" y="3060116"/>
            <a:ext cx="1197832" cy="149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Automated Alerts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16753" y="2538380"/>
            <a:ext cx="1197832" cy="149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Anomaly Analysis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16753" y="2011321"/>
            <a:ext cx="1254396" cy="149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Continuous Monitoring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61475" y="4279999"/>
            <a:ext cx="2579325" cy="197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Continuous Parameter Monitoring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61475" y="4574679"/>
            <a:ext cx="2579325" cy="536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 collected health parameters are monitored without interruption against defined thresholds.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3361943" y="4279999"/>
            <a:ext cx="2579425" cy="197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Automated Alert Generation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361943" y="4574679"/>
            <a:ext cx="2579425" cy="715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When an abnormal condition is detected, an alert is generated and dispatched immediately to caregivers or healthcare professionals.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61475" y="5635724"/>
            <a:ext cx="5279893" cy="197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Alert History Retention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61475" y="5930404"/>
            <a:ext cx="5279893" cy="357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 alerts are logged and maintained for ongoing monitoring, clinical review, and audit purposes.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256677" y="1435298"/>
            <a:ext cx="5279893" cy="197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Benefits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256677" y="1742083"/>
            <a:ext cx="2591430" cy="1096963"/>
          </a:xfrm>
          <a:prstGeom prst="roundRect">
            <a:avLst>
              <a:gd name="adj" fmla="val 4848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89627" y="1875036"/>
            <a:ext cx="2325530" cy="197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Improved Patient Safety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389627" y="2169716"/>
            <a:ext cx="2325530" cy="536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Continuous alerting reduces the window between an adverse event and clinical response.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8945041" y="1742083"/>
            <a:ext cx="2591529" cy="1096963"/>
          </a:xfrm>
          <a:prstGeom prst="roundRect">
            <a:avLst>
              <a:gd name="adj" fmla="val 4848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077991" y="1875036"/>
            <a:ext cx="2325629" cy="197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Early Detection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9077991" y="2169716"/>
            <a:ext cx="2325629" cy="536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Supports identification of health problems before they escalate to critical conditions.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256677" y="2935982"/>
            <a:ext cx="2591430" cy="1096963"/>
          </a:xfrm>
          <a:prstGeom prst="roundRect">
            <a:avLst>
              <a:gd name="adj" fmla="val 4848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389627" y="3068935"/>
            <a:ext cx="2325530" cy="197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Reduced Manual Dependence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389627" y="3363615"/>
            <a:ext cx="2325530" cy="536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Eliminates reliance on periodic manual measurements for detecting health deterioration.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8945041" y="2935982"/>
            <a:ext cx="2591529" cy="1096963"/>
          </a:xfrm>
          <a:prstGeom prst="roundRect">
            <a:avLst>
              <a:gd name="adj" fmla="val 4848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077991" y="3068935"/>
            <a:ext cx="2325629" cy="197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Remote Healthcare Support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9077991" y="3363615"/>
            <a:ext cx="2325629" cy="536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Enables delivery of healthcare services and oversight without requiring physical presence.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6256677" y="4129881"/>
            <a:ext cx="5279893" cy="739378"/>
          </a:xfrm>
          <a:prstGeom prst="roundRect">
            <a:avLst>
              <a:gd name="adj" fmla="val 719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89627" y="4262834"/>
            <a:ext cx="5013993" cy="197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Faster Awareness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6389627" y="4557514"/>
            <a:ext cx="5013993" cy="178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Caregivers gain immediate awareness of abnormal health conditions as they occur.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648775" y="4127996"/>
            <a:ext cx="2604725" cy="254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33" name="Shape 30"/>
          <p:cNvSpPr/>
          <p:nvPr/>
        </p:nvSpPr>
        <p:spPr>
          <a:xfrm>
            <a:off x="3349244" y="4127996"/>
            <a:ext cx="2604824" cy="254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34" name="Shape 31"/>
          <p:cNvSpPr/>
          <p:nvPr/>
        </p:nvSpPr>
        <p:spPr>
          <a:xfrm>
            <a:off x="648775" y="5483721"/>
            <a:ext cx="5305292" cy="25400"/>
          </a:xfrm>
          <a:prstGeom prst="rect">
            <a:avLst/>
          </a:prstGeom>
          <a:solidFill>
            <a:srgbClr val="1B1B27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84684"/>
            <a:ext cx="10868745" cy="411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Applications and Scope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661475" y="1158974"/>
            <a:ext cx="5273642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Target Applications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61475" y="1469827"/>
            <a:ext cx="5273642" cy="3788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system is designed for deployment across a broad range of healthcare and wellness environments.</a:t>
            </a:r>
            <a:endParaRPr lang="en-US" sz="1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966714"/>
            <a:ext cx="329398" cy="32940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22136" y="1966714"/>
            <a:ext cx="4812981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Hospitals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122136" y="2277566"/>
            <a:ext cx="4812981" cy="3788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Continuous inpatient monitoring without requiring dedicated nursing observation at all times.</a:t>
            </a:r>
            <a:endParaRPr lang="en-US" sz="10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866430"/>
            <a:ext cx="329398" cy="32940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22136" y="2866430"/>
            <a:ext cx="4812981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Healthcare Centers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1122136" y="3177282"/>
            <a:ext cx="4812981" cy="3788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Outpatient and clinic-based monitoring for patients with chronic or recurring conditions.</a:t>
            </a:r>
            <a:endParaRPr lang="en-US" sz="10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766145"/>
            <a:ext cx="329398" cy="32940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22136" y="3766145"/>
            <a:ext cx="4812981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Elderly Care Facilities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1122136" y="4076998"/>
            <a:ext cx="4812981" cy="3788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Continuous surveillance of elderly residents to detect health changes and prevent emergencies.</a:t>
            </a:r>
            <a:endParaRPr lang="en-US" sz="10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665861"/>
            <a:ext cx="329398" cy="32940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22136" y="4665861"/>
            <a:ext cx="4812981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Fitness Applications</a:t>
            </a:r>
            <a:endParaRPr lang="en-US" sz="1250" dirty="0"/>
          </a:p>
        </p:txBody>
      </p:sp>
      <p:sp>
        <p:nvSpPr>
          <p:cNvPr id="16" name="Text 10"/>
          <p:cNvSpPr/>
          <p:nvPr/>
        </p:nvSpPr>
        <p:spPr>
          <a:xfrm>
            <a:off x="1122136" y="4976713"/>
            <a:ext cx="4812981" cy="3788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Health parameter tracking for fitness and wellness use cases beyond clinical settings.</a:t>
            </a:r>
            <a:endParaRPr lang="en-US" sz="10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5565577"/>
            <a:ext cx="329398" cy="32940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122136" y="5565577"/>
            <a:ext cx="4812981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Remote Patient Monitoring</a:t>
            </a:r>
            <a:endParaRPr lang="en-US" sz="1250" dirty="0"/>
          </a:p>
        </p:txBody>
      </p:sp>
      <p:sp>
        <p:nvSpPr>
          <p:cNvPr id="19" name="Text 12"/>
          <p:cNvSpPr/>
          <p:nvPr/>
        </p:nvSpPr>
        <p:spPr>
          <a:xfrm>
            <a:off x="1122136" y="5876429"/>
            <a:ext cx="4812981" cy="3788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Supports home-based and distributed patient monitoring systems for telehealth programs.</a:t>
            </a:r>
            <a:endParaRPr lang="en-US" sz="1000" dirty="0"/>
          </a:p>
        </p:txBody>
      </p:sp>
      <p:sp>
        <p:nvSpPr>
          <p:cNvPr id="20" name="Shape 13"/>
          <p:cNvSpPr/>
          <p:nvPr/>
        </p:nvSpPr>
        <p:spPr>
          <a:xfrm>
            <a:off x="6168077" y="1054001"/>
            <a:ext cx="5463344" cy="5319316"/>
          </a:xfrm>
          <a:prstGeom prst="roundRect">
            <a:avLst>
              <a:gd name="adj" fmla="val 1784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21" name="Text 14"/>
          <p:cNvSpPr/>
          <p:nvPr/>
        </p:nvSpPr>
        <p:spPr>
          <a:xfrm>
            <a:off x="6299836" y="1158974"/>
            <a:ext cx="5199825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System Scope</a:t>
            </a:r>
            <a:endParaRPr lang="en-US" sz="1250" dirty="0"/>
          </a:p>
        </p:txBody>
      </p:sp>
      <p:sp>
        <p:nvSpPr>
          <p:cNvPr id="22" name="Text 15"/>
          <p:cNvSpPr/>
          <p:nvPr/>
        </p:nvSpPr>
        <p:spPr>
          <a:xfrm>
            <a:off x="6299836" y="1469827"/>
            <a:ext cx="5199825" cy="5682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Wearable IoT-based monitoring supports continuous tracking of health parameters outside traditional periodic checkups, extending the reach of healthcare beyond clinical walls.</a:t>
            </a:r>
            <a:endParaRPr lang="en-US" sz="1000" dirty="0"/>
          </a:p>
        </p:txBody>
      </p:sp>
      <p:sp>
        <p:nvSpPr>
          <p:cNvPr id="23" name="Shape 16"/>
          <p:cNvSpPr/>
          <p:nvPr/>
        </p:nvSpPr>
        <p:spPr>
          <a:xfrm>
            <a:off x="6299836" y="2156123"/>
            <a:ext cx="2547378" cy="1155303"/>
          </a:xfrm>
          <a:prstGeom prst="roundRect">
            <a:avLst>
              <a:gd name="adj" fmla="val 479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6437945" y="2294235"/>
            <a:ext cx="2271160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Secure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6437945" y="2605088"/>
            <a:ext cx="2271160" cy="5682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Health data is transmitted and stored with security measures protecting patient privacy and data integrity.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8952185" y="2156123"/>
            <a:ext cx="2547477" cy="1155303"/>
          </a:xfrm>
          <a:prstGeom prst="roundRect">
            <a:avLst>
              <a:gd name="adj" fmla="val 479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9090294" y="2294235"/>
            <a:ext cx="2271259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Scalable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9090294" y="2605088"/>
            <a:ext cx="2271259" cy="5682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architecture supports expansion to additional patients, sensors, and monitoring parameters as needed.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299836" y="3416399"/>
            <a:ext cx="2547378" cy="1155303"/>
          </a:xfrm>
          <a:prstGeom prst="roundRect">
            <a:avLst>
              <a:gd name="adj" fmla="val 479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6437945" y="3554512"/>
            <a:ext cx="2271160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Continuous</a:t>
            </a:r>
            <a:endParaRPr lang="en-US" sz="1250" dirty="0"/>
          </a:p>
        </p:txBody>
      </p:sp>
      <p:sp>
        <p:nvSpPr>
          <p:cNvPr id="31" name="Text 24"/>
          <p:cNvSpPr/>
          <p:nvPr/>
        </p:nvSpPr>
        <p:spPr>
          <a:xfrm>
            <a:off x="6437945" y="3865364"/>
            <a:ext cx="2271160" cy="5682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Designed for uninterrupted, always-on monitoring rather than episodic or scheduled measurement.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8952185" y="3416399"/>
            <a:ext cx="2547477" cy="1155303"/>
          </a:xfrm>
          <a:prstGeom prst="roundRect">
            <a:avLst>
              <a:gd name="adj" fmla="val 479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9090294" y="3554512"/>
            <a:ext cx="2271259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Remote-Ready</a:t>
            </a:r>
            <a:endParaRPr lang="en-US" sz="1250" dirty="0"/>
          </a:p>
        </p:txBody>
      </p:sp>
      <p:sp>
        <p:nvSpPr>
          <p:cNvPr id="34" name="Text 27"/>
          <p:cNvSpPr/>
          <p:nvPr/>
        </p:nvSpPr>
        <p:spPr>
          <a:xfrm>
            <a:off x="9090294" y="3865364"/>
            <a:ext cx="2271259" cy="5682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Fully suited for remote health-status tracking across geographically distributed patient populations.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88454"/>
            <a:ext cx="10868745" cy="411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Conclusion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661475" y="1110357"/>
            <a:ext cx="10868745" cy="3788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Wearable IoT-Based Health Monitoring System represents a modern, integrated approach to continuous health surveillance — bridging the gap between periodic clinical visits and real-time physiological awareness.</a:t>
            </a:r>
            <a:endParaRPr lang="en-US" sz="1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725315"/>
            <a:ext cx="2584286" cy="13701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88482" y="1876127"/>
            <a:ext cx="2206471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Continuous Data Acquisition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888482" y="2186980"/>
            <a:ext cx="2206471" cy="7576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Wearable sensors continuously collect heart rate, body temperature, and other physiological data without interruption.</a:t>
            </a:r>
            <a:endParaRPr lang="en-US" sz="1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50732" y="1725315"/>
            <a:ext cx="2584385" cy="13701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577739" y="1876127"/>
            <a:ext cx="2206570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Real-Time Transmission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3577739" y="2186980"/>
            <a:ext cx="2206570" cy="7576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IoT communication and cloud connectivity enable real-time delivery of health information to the centralized platform.</a:t>
            </a:r>
            <a:endParaRPr lang="en-US" sz="10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200400"/>
            <a:ext cx="2584286" cy="137011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88482" y="3351213"/>
            <a:ext cx="2206471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Centralized Monitoring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888482" y="3662065"/>
            <a:ext cx="2206471" cy="5682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monitoring platform provides live health parameters, historical trends, and a unified view of patient status.</a:t>
            </a:r>
            <a:endParaRPr lang="en-US" sz="10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50732" y="3200400"/>
            <a:ext cx="2584385" cy="137011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577739" y="3351213"/>
            <a:ext cx="2206570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Automated Alerting</a:t>
            </a:r>
            <a:endParaRPr lang="en-US" sz="1250" dirty="0"/>
          </a:p>
        </p:txBody>
      </p:sp>
      <p:sp>
        <p:nvSpPr>
          <p:cNvPr id="15" name="Text 9"/>
          <p:cNvSpPr/>
          <p:nvPr/>
        </p:nvSpPr>
        <p:spPr>
          <a:xfrm>
            <a:off x="3577739" y="3662065"/>
            <a:ext cx="2206570" cy="7576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Abnormal health conditions trigger immediate automated alerts to caregivers and healthcare professionals.</a:t>
            </a:r>
            <a:endParaRPr lang="en-US" sz="10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675485"/>
            <a:ext cx="2584286" cy="1575991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888482" y="4826298"/>
            <a:ext cx="2206471" cy="411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Remote Healthcare Enablement</a:t>
            </a:r>
            <a:endParaRPr lang="en-US" sz="1250" dirty="0"/>
          </a:p>
        </p:txBody>
      </p:sp>
      <p:sp>
        <p:nvSpPr>
          <p:cNvPr id="18" name="Text 11"/>
          <p:cNvSpPr/>
          <p:nvPr/>
        </p:nvSpPr>
        <p:spPr>
          <a:xfrm>
            <a:off x="888482" y="5343029"/>
            <a:ext cx="2206471" cy="7576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system supports continuous remote monitoring, timely medical intervention, and improved patient safety.</a:t>
            </a:r>
            <a:endParaRPr lang="en-US" sz="1000" dirty="0"/>
          </a:p>
        </p:txBody>
      </p:sp>
      <p:sp>
        <p:nvSpPr>
          <p:cNvPr id="19" name="Shape 12"/>
          <p:cNvSpPr/>
          <p:nvPr/>
        </p:nvSpPr>
        <p:spPr>
          <a:xfrm>
            <a:off x="6168077" y="1607245"/>
            <a:ext cx="5463344" cy="4762302"/>
          </a:xfrm>
          <a:prstGeom prst="roundRect">
            <a:avLst>
              <a:gd name="adj" fmla="val 1993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20" name="Text 13"/>
          <p:cNvSpPr/>
          <p:nvPr/>
        </p:nvSpPr>
        <p:spPr>
          <a:xfrm>
            <a:off x="6299836" y="1712218"/>
            <a:ext cx="5199825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Outcomes</a:t>
            </a:r>
            <a:endParaRPr lang="en-US" sz="1250" dirty="0"/>
          </a:p>
        </p:txBody>
      </p:sp>
      <p:sp>
        <p:nvSpPr>
          <p:cNvPr id="21" name="Shape 14"/>
          <p:cNvSpPr/>
          <p:nvPr/>
        </p:nvSpPr>
        <p:spPr>
          <a:xfrm>
            <a:off x="6299836" y="2036167"/>
            <a:ext cx="2547378" cy="1155303"/>
          </a:xfrm>
          <a:prstGeom prst="roundRect">
            <a:avLst>
              <a:gd name="adj" fmla="val 479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6437945" y="2174280"/>
            <a:ext cx="2271160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Patient Safety</a:t>
            </a:r>
            <a:endParaRPr lang="en-US" sz="1250" dirty="0"/>
          </a:p>
        </p:txBody>
      </p:sp>
      <p:sp>
        <p:nvSpPr>
          <p:cNvPr id="23" name="Text 16"/>
          <p:cNvSpPr/>
          <p:nvPr/>
        </p:nvSpPr>
        <p:spPr>
          <a:xfrm>
            <a:off x="6437945" y="2485132"/>
            <a:ext cx="2271160" cy="3788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Continuous monitoring reduces the risk of undetected health deterioration.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8952185" y="2036167"/>
            <a:ext cx="2547477" cy="1155303"/>
          </a:xfrm>
          <a:prstGeom prst="roundRect">
            <a:avLst>
              <a:gd name="adj" fmla="val 479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9090294" y="2174280"/>
            <a:ext cx="2271259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Early Detection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9090294" y="2485132"/>
            <a:ext cx="2271259" cy="5682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Supports identification of health problems before they reach critical severity.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6299836" y="3296444"/>
            <a:ext cx="5199825" cy="776486"/>
          </a:xfrm>
          <a:prstGeom prst="roundRect">
            <a:avLst>
              <a:gd name="adj" fmla="val 712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6437945" y="3434556"/>
            <a:ext cx="4923607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Remote Healthcare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6437945" y="3745409"/>
            <a:ext cx="4923607" cy="189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Enhances the reach and effectiveness of remote healthcare services.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6497475" y="4285456"/>
            <a:ext cx="5002187" cy="3788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"Wearable IoT-based continuous monitoring enables timely health awareness, remote monitoring, and faster response to abnormal health conditions."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6299836" y="4191000"/>
            <a:ext cx="19050" cy="567730"/>
          </a:xfrm>
          <a:prstGeom prst="roundRect">
            <a:avLst>
              <a:gd name="adj" fmla="val 49999"/>
            </a:avLst>
          </a:prstGeom>
          <a:solidFill>
            <a:srgbClr val="1B1B27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1543</Words>
  <Application>Microsoft Office PowerPoint</Application>
  <PresentationFormat>Widescreen</PresentationFormat>
  <Paragraphs>215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Roboto</vt:lpstr>
      <vt:lpstr>Raleway</vt:lpstr>
      <vt:lpstr>Raleway Light</vt:lpstr>
      <vt:lpstr>Roboto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LOKESH VARMA</dc:creator>
  <cp:lastModifiedBy>LOKESH VARMA</cp:lastModifiedBy>
  <cp:revision>2</cp:revision>
  <dcterms:created xsi:type="dcterms:W3CDTF">2026-08-19T06:56:49Z</dcterms:created>
  <dcterms:modified xsi:type="dcterms:W3CDTF">2026-10-02T16:54:01Z</dcterms:modified>
</cp:coreProperties>
</file>